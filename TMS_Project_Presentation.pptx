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" cy="4297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3RD SEMESTER MCA • PROJECT VIVA-VOCE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TMS: Complaint &amp; Facility</a:t>
            </a:r>
            <a:br/>
            <a: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A Smart Full-Stack MERN Web Portal &amp; React Native (Expo) Mobile App for Campus Issue Resolution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566160"/>
            <a:ext cx="1965960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MERN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566160"/>
            <a:ext cx="2258568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React Native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96127" y="3566160"/>
            <a:ext cx="1088136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Expo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21423" y="3566160"/>
            <a:ext cx="1673352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JWT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31936" y="3566160"/>
            <a:ext cx="1673352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REST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42448" y="3566160"/>
            <a:ext cx="2990088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Role-Based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297680"/>
            <a:ext cx="987552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434840"/>
            <a:ext cx="9326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STUDENT &amp; PROJECT CREDENTIALS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94A3B8"/>
                </a:solidFill>
              </a:rPr>
              <a:t>• Name: </a:t>
            </a:r>
            <a:r>
              <a:rPr b="1" sz="1500">
                <a:solidFill>
                  <a:srgbClr val="F8FAFC"/>
                </a:solidFill>
              </a:rPr>
              <a:t>Madan L        </a:t>
            </a:r>
            <a:r>
              <a:rPr b="1">
                <a:solidFill>
                  <a:srgbClr val="94A3B8"/>
                </a:solidFill>
              </a:rPr>
              <a:t>• Register Number: </a:t>
            </a:r>
            <a:r>
              <a:rPr b="1" sz="1500">
                <a:solidFill>
                  <a:srgbClr val="38BDF8"/>
                </a:solidFill>
              </a:rPr>
              <a:t>1P25MC030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Semester: 3rd Semester MCA   |   • Project Domain: Full-Stack Web &amp; Cross-Platform Mobile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MOTIVATION &amp;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Slide 2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</a:defRPr>
            </a:pPr>
            <a:r>
              <a:t>⚠️ The Problem (Old Manual System)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• Lost Complaints: </a:t>
            </a:r>
            <a:r>
              <a:rPr sz="1200">
                <a:solidFill>
                  <a:srgbClr val="94A3B8"/>
                </a:solidFill>
              </a:rPr>
              <a:t>Paper register entries easily get misplaced or forgotten.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• No Live Tracking: </a:t>
            </a:r>
            <a:r>
              <a:rPr sz="1200">
                <a:solidFill>
                  <a:srgbClr val="94A3B8"/>
                </a:solidFill>
              </a:rPr>
              <a:t>Users have no idea who is fixing their issue or when it will be done.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• No Photo Proof: </a:t>
            </a:r>
            <a:r>
              <a:rPr sz="1200">
                <a:solidFill>
                  <a:srgbClr val="94A3B8"/>
                </a:solidFill>
              </a:rPr>
              <a:t>Verbal reports fail to capture exact error codes or physical hardware damage.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• Communication Delay: </a:t>
            </a:r>
            <a:r>
              <a:rPr sz="1200">
                <a:solidFill>
                  <a:srgbClr val="94A3B8"/>
                </a:solidFill>
              </a:rPr>
              <a:t>Manual assignment of technicians takes days instead of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🎯 The Solution (TMS App)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✓ 100% Digital Tickets: </a:t>
            </a:r>
            <a:r>
              <a:rPr sz="1200">
                <a:solidFill>
                  <a:srgbClr val="94A3B8"/>
                </a:solidFill>
              </a:rPr>
              <a:t>Raise complaints instantly from mobile app or web portal.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✓ Live Progress Tracking: </a:t>
            </a:r>
            <a:r>
              <a:rPr sz="1200">
                <a:solidFill>
                  <a:srgbClr val="94A3B8"/>
                </a:solidFill>
              </a:rPr>
              <a:t>Clear stages: Pending ➔ Assigned ➔ In-Progress ➔ Resolved.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✓ Photo Evidence: </a:t>
            </a:r>
            <a:r>
              <a:rPr sz="1200">
                <a:solidFill>
                  <a:srgbClr val="94A3B8"/>
                </a:solidFill>
              </a:rPr>
              <a:t>Attach photos directly using device camera to verify the problem.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✓ Exact Location Tagging: </a:t>
            </a:r>
            <a:r>
              <a:rPr sz="1200">
                <a:solidFill>
                  <a:srgbClr val="94A3B8"/>
                </a:solidFill>
              </a:rPr>
              <a:t>Precise hierarchy: Department ➔ Block ➔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ARCHITECTURE &amp;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Slide 3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Frontend (Client)</a:t>
            </a:r>
          </a:p>
          <a:p>
            <a:pPr>
              <a:spcBef>
                <a:spcPts val="1600"/>
              </a:spcBef>
            </a:pPr>
            <a:r>
              <a:rPr b="1" sz="1200">
                <a:solidFill>
                  <a:srgbClr val="F8FAFC"/>
                </a:solidFill>
              </a:rPr>
              <a:t>React 18 (Web): </a:t>
            </a:r>
            <a:r>
              <a:rPr sz="1100">
                <a:solidFill>
                  <a:srgbClr val="94A3B8"/>
                </a:solidFill>
              </a:rPr>
              <a:t>Single-Page Web Portal for SuperAdmin management.</a:t>
            </a:r>
          </a:p>
          <a:p>
            <a:pPr>
              <a:spcBef>
                <a:spcPts val="1600"/>
              </a:spcBef>
            </a:pPr>
            <a:r>
              <a:rPr b="1" sz="1200">
                <a:solidFill>
                  <a:srgbClr val="F8FAFC"/>
                </a:solidFill>
              </a:rPr>
              <a:t>React Native + Expo: </a:t>
            </a:r>
            <a:r>
              <a:rPr sz="1100">
                <a:solidFill>
                  <a:srgbClr val="94A3B8"/>
                </a:solidFill>
              </a:rPr>
              <a:t>Cross-platform mobile app for iOS &amp; Android.</a:t>
            </a:r>
          </a:p>
          <a:p>
            <a:pPr>
              <a:spcBef>
                <a:spcPts val="1600"/>
              </a:spcBef>
            </a:pPr>
            <a:r>
              <a:rPr b="1" sz="1200">
                <a:solidFill>
                  <a:srgbClr val="F8FAFC"/>
                </a:solidFill>
              </a:rPr>
              <a:t>Axios HTTP: </a:t>
            </a:r>
            <a:r>
              <a:rPr sz="1100">
                <a:solidFill>
                  <a:srgbClr val="94A3B8"/>
                </a:solidFill>
              </a:rPr>
              <a:t>Smooth API communication with local token caching.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3832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</a:defRPr>
            </a:pPr>
            <a:r>
              <a:t>2. Backend (Server)</a:t>
            </a:r>
          </a:p>
          <a:p>
            <a:pPr>
              <a:spcBef>
                <a:spcPts val="1600"/>
              </a:spcBef>
            </a:pPr>
            <a:r>
              <a:rPr b="1" sz="1200">
                <a:solidFill>
                  <a:srgbClr val="F8FAFC"/>
                </a:solidFill>
              </a:rPr>
              <a:t>Node.js &amp; Express.js: </a:t>
            </a:r>
            <a:r>
              <a:rPr sz="1100">
                <a:solidFill>
                  <a:srgbClr val="94A3B8"/>
                </a:solidFill>
              </a:rPr>
              <a:t>Fast, non-blocking asynchronous REST API.</a:t>
            </a:r>
          </a:p>
          <a:p>
            <a:pPr>
              <a:spcBef>
                <a:spcPts val="1600"/>
              </a:spcBef>
            </a:pPr>
            <a:r>
              <a:rPr b="1" sz="1200">
                <a:solidFill>
                  <a:srgbClr val="F8FAFC"/>
                </a:solidFill>
              </a:rPr>
              <a:t>JWT Authentication: </a:t>
            </a:r>
            <a:r>
              <a:rPr sz="1100">
                <a:solidFill>
                  <a:srgbClr val="94A3B8"/>
                </a:solidFill>
              </a:rPr>
              <a:t>Secure stateless token-based user login.</a:t>
            </a:r>
          </a:p>
          <a:p>
            <a:pPr>
              <a:spcBef>
                <a:spcPts val="1600"/>
              </a:spcBef>
            </a:pPr>
            <a:r>
              <a:rPr b="1" sz="1200">
                <a:solidFill>
                  <a:srgbClr val="F8FAFC"/>
                </a:solidFill>
              </a:rPr>
              <a:t>Role-Based Access (RBAC): </a:t>
            </a:r>
            <a:r>
              <a:rPr sz="1100">
                <a:solidFill>
                  <a:srgbClr val="94A3B8"/>
                </a:solidFill>
              </a:rPr>
              <a:t>Strict access for SuperAdmin, Staff, and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3832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3. Database &amp; Security</a:t>
            </a:r>
          </a:p>
          <a:p>
            <a:pPr>
              <a:spcBef>
                <a:spcPts val="1600"/>
              </a:spcBef>
            </a:pPr>
            <a:r>
              <a:rPr b="1" sz="1200">
                <a:solidFill>
                  <a:srgbClr val="F8FAFC"/>
                </a:solidFill>
              </a:rPr>
              <a:t>MongoDB NoSQL: </a:t>
            </a:r>
            <a:r>
              <a:rPr sz="1100">
                <a:solidFill>
                  <a:srgbClr val="94A3B8"/>
                </a:solidFill>
              </a:rPr>
              <a:t>High-speed document database for tickets &amp; masters.</a:t>
            </a:r>
          </a:p>
          <a:p>
            <a:pPr>
              <a:spcBef>
                <a:spcPts val="1600"/>
              </a:spcBef>
            </a:pPr>
            <a:r>
              <a:rPr b="1" sz="1200">
                <a:solidFill>
                  <a:srgbClr val="F8FAFC"/>
                </a:solidFill>
              </a:rPr>
              <a:t>Mongoose ODM: </a:t>
            </a:r>
            <a:r>
              <a:rPr sz="1100">
                <a:solidFill>
                  <a:srgbClr val="94A3B8"/>
                </a:solidFill>
              </a:rPr>
              <a:t>Structured data models with schema validations.</a:t>
            </a:r>
          </a:p>
          <a:p>
            <a:pPr>
              <a:spcBef>
                <a:spcPts val="1600"/>
              </a:spcBef>
            </a:pPr>
            <a:r>
              <a:rPr b="1" sz="1200">
                <a:solidFill>
                  <a:srgbClr val="F8FAFC"/>
                </a:solidFill>
              </a:rPr>
              <a:t>bcryptjs Hashing: </a:t>
            </a:r>
            <a:r>
              <a:rPr sz="1100">
                <a:solidFill>
                  <a:srgbClr val="94A3B8"/>
                </a:solidFill>
              </a:rPr>
              <a:t>Salted password encryption for high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EXECUTION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How TMS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Slide 4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700" b="1">
                <a:solidFill>
                  <a:srgbClr val="F8FAFC"/>
                </a:solidFill>
              </a:defRPr>
            </a:pPr>
            <a:r>
              <a:t>Raise Ticket</a:t>
            </a:r>
          </a:p>
          <a:p>
            <a:pPr>
              <a:spcBef>
                <a:spcPts val="1600"/>
              </a:spcBef>
              <a:defRPr sz="1200">
                <a:solidFill>
                  <a:srgbClr val="94A3B8"/>
                </a:solidFill>
              </a:defRPr>
            </a:pPr>
            <a:r>
              <a:t>User opens the mobile app, selects Department ➔ Block ➔ Room, picks category, writes remarks, and snaps a photo.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463040"/>
            <a:ext cx="25146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16459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8BFA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700" b="1">
                <a:solidFill>
                  <a:srgbClr val="F8FAFC"/>
                </a:solidFill>
              </a:defRPr>
            </a:pPr>
            <a:r>
              <a:t>Admin Assigns</a:t>
            </a:r>
          </a:p>
          <a:p>
            <a:pPr>
              <a:spcBef>
                <a:spcPts val="1600"/>
              </a:spcBef>
              <a:defRPr sz="1200">
                <a:solidFill>
                  <a:srgbClr val="94A3B8"/>
                </a:solidFill>
              </a:defRPr>
            </a:pPr>
            <a:r>
              <a:t>SuperAdmin reviews incoming tickets in real-time on the Web Dashboard and assigns an available technician.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63040"/>
            <a:ext cx="25146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459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700" b="1">
                <a:solidFill>
                  <a:srgbClr val="F8FAFC"/>
                </a:solidFill>
              </a:defRPr>
            </a:pPr>
            <a:r>
              <a:t>Resolve on Site</a:t>
            </a:r>
          </a:p>
          <a:p>
            <a:pPr>
              <a:spcBef>
                <a:spcPts val="1600"/>
              </a:spcBef>
              <a:defRPr sz="1200">
                <a:solidFill>
                  <a:srgbClr val="94A3B8"/>
                </a:solidFill>
              </a:defRPr>
            </a:pPr>
            <a:r>
              <a:t>Technician checks assigned ticket on Mobile App, visits the location, updates status to 'In-Progress', and fixes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463040"/>
            <a:ext cx="25146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7" y="16459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700" b="1">
                <a:solidFill>
                  <a:srgbClr val="F8FAFC"/>
                </a:solidFill>
              </a:defRPr>
            </a:pPr>
            <a:r>
              <a:t>Close &amp; Report</a:t>
            </a:r>
          </a:p>
          <a:p>
            <a:pPr>
              <a:spcBef>
                <a:spcPts val="1600"/>
              </a:spcBef>
              <a:defRPr sz="1200">
                <a:solidFill>
                  <a:srgbClr val="94A3B8"/>
                </a:solidFill>
              </a:defRPr>
            </a:pPr>
            <a:r>
              <a:t>Technician marks ticket as 'Resolved'. System saves timestamped audit trail and generates resolution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IMPACT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Benefits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Slide 5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⭐ Key Benefits of TMS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• Zero Paperwork: </a:t>
            </a:r>
            <a:r>
              <a:rPr sz="1200">
                <a:solidFill>
                  <a:srgbClr val="94A3B8"/>
                </a:solidFill>
              </a:rPr>
              <a:t>Saves time and eliminates misplaced physical records.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• Fast Resolution: </a:t>
            </a:r>
            <a:r>
              <a:rPr sz="1200">
                <a:solidFill>
                  <a:srgbClr val="94A3B8"/>
                </a:solidFill>
              </a:rPr>
              <a:t>Direct routing speeds up turnaround time by up to 80%.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• Total Transparency: </a:t>
            </a:r>
            <a:r>
              <a:rPr sz="1200">
                <a:solidFill>
                  <a:srgbClr val="94A3B8"/>
                </a:solidFill>
              </a:rPr>
              <a:t>Both users and management see real-time progress.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• Dynamic IP Switcher: </a:t>
            </a:r>
            <a:r>
              <a:rPr sz="1200">
                <a:solidFill>
                  <a:srgbClr val="94A3B8"/>
                </a:solidFill>
              </a:rPr>
              <a:t>Test mobile app with local backend on-the-fly without rebuilding.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78BFA"/>
                </a:solidFill>
              </a:defRPr>
            </a:pPr>
            <a:r>
              <a:t>🚀 Future Enhancements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★ Push Notifications: </a:t>
            </a:r>
            <a:r>
              <a:rPr sz="1200">
                <a:solidFill>
                  <a:srgbClr val="94A3B8"/>
                </a:solidFill>
              </a:rPr>
              <a:t>Instant alerts via Firebase (FCM) when ticket status updates.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★ SLA Escalation Engine: </a:t>
            </a:r>
            <a:r>
              <a:rPr sz="1200">
                <a:solidFill>
                  <a:srgbClr val="94A3B8"/>
                </a:solidFill>
              </a:rPr>
              <a:t>Auto-escalates unresolved tickets to HOD after 24 hours.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★ AI Classification: </a:t>
            </a:r>
            <a:r>
              <a:rPr sz="1200">
                <a:solidFill>
                  <a:srgbClr val="94A3B8"/>
                </a:solidFill>
              </a:rPr>
              <a:t>Auto-detects problem category and assigns technician via AI.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F8FAFC"/>
                </a:solidFill>
              </a:rPr>
              <a:t>★ Live Chat: </a:t>
            </a:r>
            <a:r>
              <a:rPr sz="1200">
                <a:solidFill>
                  <a:srgbClr val="94A3B8"/>
                </a:solidFill>
              </a:rPr>
              <a:t>Direct in-app messaging between user and technician.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